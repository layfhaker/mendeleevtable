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8FA0"/>
          </a:solidFill>
          <a:ln w="12700">
            <a:solidFill>
              <a:srgbClr val="1A8F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36576"/>
          </a:xfrm>
          <a:prstGeom prst="rect">
            <a:avLst/>
          </a:prstGeom>
          <a:solidFill>
            <a:srgbClr val="2EC4D0"/>
          </a:solidFill>
          <a:ln w="12700">
            <a:solidFill>
              <a:srgbClr val="2EC4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Интерактивная таблица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Менделеева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Веб-приложение для изучения химии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1005840" cy="50292"/>
          </a:xfrm>
          <a:prstGeom prst="rect">
            <a:avLst/>
          </a:prstGeom>
          <a:solidFill>
            <a:srgbClr val="1A8FA0"/>
          </a:solidFill>
          <a:ln w="12700">
            <a:solidFill>
              <a:srgbClr val="1A8F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017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Сугаипов Арсен, 10 «В» класс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31012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ЧОУ «Газпром школа Санкт-Петербург»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Руководитель: Вострикова Л. В.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8FA0"/>
          </a:solidFill>
          <a:ln w="12700">
            <a:solidFill>
              <a:srgbClr val="1A8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51206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64008" cy="685800"/>
          </a:xfrm>
          <a:prstGeom prst="rect">
            <a:avLst/>
          </a:prstGeom>
          <a:solidFill>
            <a:srgbClr val="1A8FA0"/>
          </a:solidFill>
          <a:ln w="12700">
            <a:solidFill>
              <a:srgbClr val="1A8F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12471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Справочные материалы перегружены и неудобны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51206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37360"/>
            <a:ext cx="64008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90195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Классические таблицы не подходят для быстрого поиска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51206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14600"/>
            <a:ext cx="64008" cy="685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67919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Учебные инструменты разрознены (сайты, приложения, конспекты)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51206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91840"/>
            <a:ext cx="64008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4564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Мобильные версии ограничены и неудобны</a:t>
            </a:r>
            <a:endParaRPr lang="en-US" sz="13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960120"/>
            <a:ext cx="2880360" cy="32004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806440" y="420624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 аналога (ptable.com)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8FA0"/>
          </a:solidFill>
          <a:ln w="12700">
            <a:solidFill>
              <a:srgbClr val="1A8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проекта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64008" cy="1371600"/>
          </a:xfrm>
          <a:prstGeom prst="rect">
            <a:avLst/>
          </a:prstGeom>
          <a:solidFill>
            <a:srgbClr val="1A8FA0"/>
          </a:solidFill>
          <a:ln w="12700">
            <a:solidFill>
              <a:srgbClr val="1A8F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024128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Создать удобный интерактивный инструмент для изучения химии, объединяющий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справочные и вычислительные функции в одном веб-приложении с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современным интерфейсом и возможностью работы без интернета.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542032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542032"/>
            <a:ext cx="64008" cy="1417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651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3232" y="294436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Процесс изучения химических элементов и их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соединений учащимися средней школы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2542032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2542032"/>
            <a:ext cx="64008" cy="1417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2651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Предмет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19472" y="294436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Информационная модель периодической системы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методы её интерактивного представления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8FA0"/>
          </a:solidFill>
          <a:ln w="12700">
            <a:solidFill>
              <a:srgbClr val="1A8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69848"/>
            <a:ext cx="384048" cy="384048"/>
          </a:xfrm>
          <a:prstGeom prst="ellipse">
            <a:avLst/>
          </a:prstGeom>
          <a:solidFill>
            <a:srgbClr val="1A8FA0"/>
          </a:solidFill>
          <a:ln w="12700">
            <a:solidFill>
              <a:srgbClr val="1A8F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69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06984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Разработать интерактивную таблицу со всеми 118 элементами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9224" y="1453896"/>
            <a:ext cx="0" cy="237744"/>
          </a:xfrm>
          <a:prstGeom prst="line">
            <a:avLst/>
          </a:prstGeom>
          <a:noFill/>
          <a:ln w="19050">
            <a:solidFill>
              <a:srgbClr val="D0DC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01368"/>
            <a:ext cx="384048" cy="38404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80136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 таблицу растворимости с реальными цветами веществ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9224" y="2185416"/>
            <a:ext cx="0" cy="237744"/>
          </a:xfrm>
          <a:prstGeom prst="line">
            <a:avLst/>
          </a:prstGeom>
          <a:noFill/>
          <a:ln w="19050">
            <a:solidFill>
              <a:srgbClr val="D0DC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532888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53288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Создать умный поиск по формулам и названиям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9224" y="2916936"/>
            <a:ext cx="0" cy="237744"/>
          </a:xfrm>
          <a:prstGeom prst="line">
            <a:avLst/>
          </a:prstGeom>
          <a:noFill/>
          <a:ln w="1905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264408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26440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Добавить калькулятор молярной массы и уравниватель реакций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9224" y="3648456"/>
            <a:ext cx="0" cy="237744"/>
          </a:xfrm>
          <a:prstGeom prst="line">
            <a:avLst/>
          </a:prstGeom>
          <a:noFill/>
          <a:ln w="19050">
            <a:solidFill>
              <a:srgbClr val="D0DC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995928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995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99592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Адаптировать под ПК, планшеты и смартфоны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8FA0"/>
          </a:solidFill>
          <a:ln w="12700">
            <a:solidFill>
              <a:srgbClr val="1A8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51206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64008" cy="685800"/>
          </a:xfrm>
          <a:prstGeom prst="rect">
            <a:avLst/>
          </a:prstGeom>
          <a:solidFill>
            <a:srgbClr val="1A8FA0"/>
          </a:solidFill>
          <a:ln w="12700">
            <a:solidFill>
              <a:srgbClr val="1A8F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12471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Разработан веб-инструмент для изучения химии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51206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37360"/>
            <a:ext cx="64008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90195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Объединяет несколько учебных функций в одном месте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51206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14600"/>
            <a:ext cx="64008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67919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Минимизирует визуальную перегрузку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51206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91840"/>
            <a:ext cx="64008" cy="685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4564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без интернета (PWA)</a:t>
            </a:r>
            <a:endParaRPr lang="en-US" sz="13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960120"/>
            <a:ext cx="2880360" cy="30175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806440" y="402336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 приложения (главная таблица)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8FA0"/>
          </a:solidFill>
          <a:ln w="12700">
            <a:solidFill>
              <a:srgbClr val="1A8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возможности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9748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64008" cy="3429000"/>
          </a:xfrm>
          <a:prstGeom prst="rect">
            <a:avLst/>
          </a:prstGeom>
          <a:solidFill>
            <a:srgbClr val="1A8FA0"/>
          </a:solidFill>
          <a:ln w="12700">
            <a:solidFill>
              <a:srgbClr val="1A8F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09728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Периодическая таблица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" y="14447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 элементов · 20+ параметров ·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аллотропов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74520"/>
            <a:ext cx="2478024" cy="24231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355848" y="1005840"/>
            <a:ext cx="269748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55848" y="1005840"/>
            <a:ext cx="64008" cy="34290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11296" y="109728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растворимости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511296" y="14447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 соединения · реальные цвета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веществ</a:t>
            </a:r>
            <a:endParaRPr lang="en-US" sz="11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576" y="1874520"/>
            <a:ext cx="2478024" cy="242316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254496" y="1005840"/>
            <a:ext cx="269748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54496" y="1005840"/>
            <a:ext cx="64008" cy="3429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09944" y="109728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Умный поиск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409944" y="14447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Формулы, названия, тривиальные имена</a:t>
            </a:r>
            <a:endParaRPr lang="en-US" sz="11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1874520"/>
            <a:ext cx="2478024" cy="2423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8FA0"/>
          </a:solidFill>
          <a:ln w="12700">
            <a:solidFill>
              <a:srgbClr val="1A8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возможности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9748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64008" cy="3429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09728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Калькулятор массы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" y="14447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на ПК · касание на телефоне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74520"/>
            <a:ext cx="2478024" cy="24231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355848" y="1005840"/>
            <a:ext cx="269748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55848" y="1005840"/>
            <a:ext cx="64008" cy="3429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11296" y="109728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Уравниватель реакций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511296" y="14447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Автоподбор коэффициентов</a:t>
            </a:r>
            <a:endParaRPr lang="en-US" sz="11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576" y="1874520"/>
            <a:ext cx="2478024" cy="242316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254496" y="1005840"/>
            <a:ext cx="2697480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54496" y="1005840"/>
            <a:ext cx="64008" cy="3429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09944" y="109728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Режим реакций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409944" y="14447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Составление полной химической реакции по введённым реагентам</a:t>
            </a:r>
            <a:endParaRPr lang="en-US" sz="11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1874520"/>
            <a:ext cx="2478024" cy="24231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8FA0"/>
          </a:solidFill>
          <a:ln w="12700">
            <a:solidFill>
              <a:srgbClr val="1A8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Режим реальных цветов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растворимости показывает вещества в их реальном цвете — уникальная функция, отсутствующая у аналогов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2651760" cy="8046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15727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Чёрные сульфиды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186537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Ag₂S, PbS, CuS, FeS, NiS, CoS, HgS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1481328"/>
            <a:ext cx="2651760" cy="80467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01568" y="15727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Жёлтые осадки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01568" y="186537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AgI, PbI₂, BaCrO₄, PbCrO₄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26480" y="1481328"/>
            <a:ext cx="2651760" cy="804672"/>
          </a:xfrm>
          <a:prstGeom prst="rect">
            <a:avLst/>
          </a:prstGeom>
          <a:solidFill>
            <a:srgbClr val="5BB8F5"/>
          </a:solidFill>
          <a:ln w="12700">
            <a:solidFill>
              <a:srgbClr val="5BB8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36208" y="15727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Голубые растворы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36208" y="186537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Cu²⁺ — сульфат, хлорид, нитрат меди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423160"/>
            <a:ext cx="2651760" cy="804672"/>
          </a:xfrm>
          <a:prstGeom prst="rect">
            <a:avLst/>
          </a:prstGeom>
          <a:solidFill>
            <a:srgbClr val="F4A0B5"/>
          </a:solidFill>
          <a:ln w="12700">
            <a:solidFill>
              <a:srgbClr val="F4A0B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6928" y="2514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Розовые растворы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280720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Co²⁺, Mn²⁺ — соли кобальта и марганца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91840" y="2423160"/>
            <a:ext cx="2651760" cy="80467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01568" y="2514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Зелёные растворы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01568" y="280720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Ni²⁺, Fe²⁺, Cr³⁺ — соли никеля, железа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26480" y="2423160"/>
            <a:ext cx="2651760" cy="804672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36208" y="2514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Фиолетовые растворы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36208" y="280720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KMnO₄ — перманганат калия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8FA0"/>
          </a:solidFill>
          <a:ln w="12700">
            <a:solidFill>
              <a:srgbClr val="1A8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LaTeX-экспорт данных элемента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генерирует готовый .tex файл с данными любого элемента для использования в научных работах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846320" cy="2606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36192"/>
            <a:ext cx="44805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Экспорт: Железо (Fe)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\section{Железо (Fe, 26)}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\begin{tabular}{ll}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Атомная масса &amp; 55.845 \\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Плотность      &amp; 7.874 г/см³ \\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Откр.          &amp; 1735, К. Брандт \\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\end{tabular}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Растворимость через mhchem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\ce{FeCl2} — растворим (p)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0" y="1417320"/>
            <a:ext cx="32004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0" y="1417320"/>
            <a:ext cx="64008" cy="777240"/>
          </a:xfrm>
          <a:prstGeom prst="rect">
            <a:avLst/>
          </a:prstGeom>
          <a:solidFill>
            <a:srgbClr val="1A8FA0"/>
          </a:solidFill>
          <a:ln w="12700">
            <a:solidFill>
              <a:srgbClr val="1A8F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87568" y="14813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Таблицы свойств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87568" y="17556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Атомный номер, масса, температуры,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электронная конфигурация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0" y="2331720"/>
            <a:ext cx="32004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0" y="2331720"/>
            <a:ext cx="64008" cy="777240"/>
          </a:xfrm>
          <a:prstGeom prst="rect">
            <a:avLst/>
          </a:prstGeom>
          <a:solidFill>
            <a:srgbClr val="1A8FA0"/>
          </a:solidFill>
          <a:ln w="12700">
            <a:solidFill>
              <a:srgbClr val="1A8F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87568" y="23957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Формулы через mhchem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87568" y="26700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Правильные химические формулы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 всей разметкой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0" y="3246120"/>
            <a:ext cx="32004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0" y="3246120"/>
            <a:ext cx="64008" cy="777240"/>
          </a:xfrm>
          <a:prstGeom prst="rect">
            <a:avLst/>
          </a:prstGeom>
          <a:solidFill>
            <a:srgbClr val="1A8FA0"/>
          </a:solidFill>
          <a:ln w="12700">
            <a:solidFill>
              <a:srgbClr val="1A8F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87568" y="33101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растворимости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87568" y="35844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Соединения выбранного элемента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базы данных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экспортируется из модального окна элемента одной кнопкой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8FA0"/>
          </a:solidFill>
          <a:ln w="12700">
            <a:solidFill>
              <a:srgbClr val="1A8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Десктопная версия (Electron)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доступно как установочный файл для Windows и Linux — с эксклюзивными функциями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517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64008" cy="9601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5544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Установка обоев (Windows)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184708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Текущий вид таблицы сохраняется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обои рабочего стола через PowerShell API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6517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463040"/>
            <a:ext cx="64008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6432" y="15544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Scroll-Collapse система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56432" y="184708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прокрутке страницы таблица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плавно сжимается, освобождая пространство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1463040"/>
            <a:ext cx="26517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463040"/>
            <a:ext cx="64008" cy="9601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91072" y="15544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Виртуальный скролл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91072" y="184708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порога 300px страница не прокручивается 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плавный и контролируемый UX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587752"/>
            <a:ext cx="26517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587752"/>
            <a:ext cx="64008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26791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+ Инсталлятор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" y="297180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.exe не требует установки.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NSIS инсталлятор для профессиональной установки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91840" y="2587752"/>
            <a:ext cx="26517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2587752"/>
            <a:ext cx="64008" cy="960120"/>
          </a:xfrm>
          <a:prstGeom prst="rect">
            <a:avLst/>
          </a:prstGeom>
          <a:solidFill>
            <a:srgbClr val="1A8FA0"/>
          </a:solidFill>
          <a:ln w="12700">
            <a:solidFill>
              <a:srgbClr val="1A8F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56432" y="26791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сборки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56432" y="297180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AppImage / .deb / .snap 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клик для запуска на любом дистрибутиве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26480" y="2587752"/>
            <a:ext cx="26517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2587752"/>
            <a:ext cx="64008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91072" y="26791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зависимостей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91072" y="297180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работает офлайн, нет необходимости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браузере или дополнительном ПО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8FA0"/>
          </a:solidFill>
          <a:ln w="12700">
            <a:solidFill>
              <a:srgbClr val="1A8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Отличия от аналогов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840480" cy="3200400"/>
          </a:xfrm>
          <a:prstGeom prst="rect">
            <a:avLst/>
          </a:prstGeom>
          <a:solidFill>
            <a:srgbClr val="FFF1F0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51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Аналоги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813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Перегруженный интерфейс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19385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Медленный поиск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23957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Разные сервисы для разных задач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28529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Нет оффлайн-режима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33101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Устаревшие данные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846320" y="960120"/>
            <a:ext cx="3840480" cy="3200400"/>
          </a:xfrm>
          <a:prstGeom prst="rect">
            <a:avLst/>
          </a:prstGeom>
          <a:solidFill>
            <a:srgbClr val="F0FFF4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0" y="1051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Химический Ассистент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0" y="14813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Минималистичный интерфейс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0" y="19385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Мгновенный поиск по формулам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0" y="23957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Всё в одном приложении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0" y="28529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Полный оффлайн через PWA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0" y="33101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Актуальные данные 2025 года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8FA0"/>
          </a:solidFill>
          <a:ln w="12700">
            <a:solidFill>
              <a:srgbClr val="1A8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64008" cy="960120"/>
          </a:xfrm>
          <a:prstGeom prst="rect">
            <a:avLst/>
          </a:prstGeom>
          <a:solidFill>
            <a:srgbClr val="1A8FA0"/>
          </a:solidFill>
          <a:ln w="12700">
            <a:solidFill>
              <a:srgbClr val="1A8F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11556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CSS3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" y="144475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Вёрстка и стили интерфейса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6517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05840"/>
            <a:ext cx="64008" cy="9601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56432" y="111556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56432" y="144475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Логика приложения, ~40 000 строк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6517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05840"/>
            <a:ext cx="64008" cy="9601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91072" y="111556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API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91072" y="144475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Интерактивные частицы и атомы на фоне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130552"/>
            <a:ext cx="26517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130552"/>
            <a:ext cx="64008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22402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" y="256946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Оффлайн-режим и установка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91840" y="2130552"/>
            <a:ext cx="26517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2130552"/>
            <a:ext cx="64008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56432" y="22402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Адаптивный дизайн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56432" y="256946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ПК, планшеты, смартфоны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26480" y="2130552"/>
            <a:ext cx="26517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130552"/>
            <a:ext cx="64008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91072" y="22402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91072" y="256946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Бесплатный хостинг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F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8FA0"/>
          </a:solidFill>
          <a:ln w="12700">
            <a:solidFill>
              <a:srgbClr val="1A8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920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1920240" cy="64008"/>
          </a:xfrm>
          <a:prstGeom prst="rect">
            <a:avLst/>
          </a:prstGeom>
          <a:solidFill>
            <a:srgbClr val="1A8FA0"/>
          </a:solidFill>
          <a:ln w="12700">
            <a:solidFill>
              <a:srgbClr val="1A8F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2412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элементов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33472" y="960120"/>
            <a:ext cx="1920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33472" y="960120"/>
            <a:ext cx="192024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24912" y="102412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724912" y="1645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соединения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09744" y="960120"/>
            <a:ext cx="1920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9744" y="960120"/>
            <a:ext cx="192024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01184" y="102412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901184" y="1645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цветов веществ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86016" y="960120"/>
            <a:ext cx="1920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86016" y="960120"/>
            <a:ext cx="19202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77456" y="102412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~40k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077456" y="1645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 кода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286000"/>
            <a:ext cx="256032" cy="256032"/>
          </a:xfrm>
          <a:prstGeom prst="ellipse">
            <a:avLst/>
          </a:prstGeom>
          <a:solidFill>
            <a:srgbClr val="1A8FA0"/>
          </a:solidFill>
          <a:ln w="12700">
            <a:solidFill>
              <a:srgbClr val="1A8F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286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229514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Рабочий продукт, опубликованный на GitHub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2779776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779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2788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Корректная работа на ПК, планшетах и смартфонах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3273552"/>
            <a:ext cx="256032" cy="25603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273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32826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Успешное тестирование в Chrome, Firefox, Safari, Edge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3767328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767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2960" y="37764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Положительная обратная связь от одноклассников и учителя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" y="4261104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261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22960" y="42702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 ~150 КБ, загрузка менее 1 секунды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F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8FA0"/>
          </a:solidFill>
          <a:ln w="12700">
            <a:solidFill>
              <a:srgbClr val="1A8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Планы развития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64008" cy="786384"/>
          </a:xfrm>
          <a:prstGeom prst="rect">
            <a:avLst/>
          </a:prstGeom>
          <a:solidFill>
            <a:srgbClr val="1A8FA0"/>
          </a:solidFill>
          <a:ln w="12700">
            <a:solidFill>
              <a:srgbClr val="1A8F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реакций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" y="13898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Удобный сборник правил химических реакций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901952"/>
            <a:ext cx="822960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01952"/>
            <a:ext cx="64008" cy="7863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9933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Расширение базы реакций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3232" y="2286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Больше типов реакций и примеров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798064"/>
            <a:ext cx="822960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798064"/>
            <a:ext cx="64008" cy="7863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8895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Мультиязычность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3232" y="31821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Русский, английский, казахский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694176"/>
            <a:ext cx="822960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694176"/>
            <a:ext cx="64008" cy="78638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7856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Оптимизация интерфейса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3232" y="407822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Улучшения по обратной связи пользователей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F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A8FA0"/>
          </a:solidFill>
          <a:ln w="12700">
            <a:solidFill>
              <a:srgbClr val="1A8F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240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layfhaker.github.io/mendeleevtable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2788920"/>
            <a:ext cx="2743200" cy="50292"/>
          </a:xfrm>
          <a:prstGeom prst="rect">
            <a:avLst/>
          </a:prstGeom>
          <a:solidFill>
            <a:srgbClr val="1A8FA0"/>
          </a:solidFill>
          <a:ln w="12700">
            <a:solidFill>
              <a:srgbClr val="1A8F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Сугаипов Арсен · 10 «В» класс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ЧОУ «Газпром школа Санкт-Петербург» ·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Интерактивная таблица Менделеева</dc:title>
  <dc:subject>PptxGenJS Presentation</dc:subject>
  <dc:creator>PptxGenJS</dc:creator>
  <cp:lastModifiedBy>PptxGenJS</cp:lastModifiedBy>
  <cp:revision>1</cp:revision>
  <dcterms:created xsi:type="dcterms:W3CDTF">2026-03-15T19:07:35Z</dcterms:created>
  <dcterms:modified xsi:type="dcterms:W3CDTF">2026-03-15T19:07:35Z</dcterms:modified>
</cp:coreProperties>
</file>